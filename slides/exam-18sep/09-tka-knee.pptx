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5" r:id="rId7"/>
    <p:sldId id="264" r:id="rId8"/>
    <p:sldId id="261" r:id="rId9"/>
    <p:sldId id="262" r:id="rId10"/>
    <p:sldId id="263" r:id="rId11"/>
    <p:sldId id="267" r:id="rId12"/>
    <p:sldId id="268" r:id="rId13"/>
    <p:sldId id="275" r:id="rId14"/>
    <p:sldId id="269" r:id="rId15"/>
    <p:sldId id="277" r:id="rId16"/>
    <p:sldId id="276" r:id="rId17"/>
    <p:sldId id="270" r:id="rId18"/>
    <p:sldId id="278" r:id="rId19"/>
    <p:sldId id="279" r:id="rId20"/>
    <p:sldId id="280" r:id="rId21"/>
    <p:sldId id="282" r:id="rId22"/>
    <p:sldId id="281" r:id="rId23"/>
    <p:sldId id="287" r:id="rId24"/>
    <p:sldId id="283" r:id="rId25"/>
    <p:sldId id="284" r:id="rId26"/>
    <p:sldId id="271" r:id="rId27"/>
    <p:sldId id="272" r:id="rId28"/>
    <p:sldId id="286" r:id="rId29"/>
    <p:sldId id="266" r:id="rId30"/>
    <p:sldId id="273" r:id="rId31"/>
    <p:sldId id="274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>
    <p:extLst>
      <p:ext uri="{19B8F6BF-5375-455C-9EA6-DF929625EA0E}">
        <p15:presenceInfo xmlns:p15="http://schemas.microsoft.com/office/powerpoint/2012/main" userId="Administrato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14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9T17:57:07.153" idx="1">
    <p:pos x="10" y="10"/>
    <p:text/>
    <p:extLst>
      <p:ext uri="{C676402C-5697-4E1C-873F-D02D1690AC5C}">
        <p15:threadingInfo xmlns:p15="http://schemas.microsoft.com/office/powerpoint/2012/main" timeZoneBias="-4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2A5CCA-8A9C-4E46-A92C-36591D751F42}" type="datetimeFigureOut">
              <a:rPr lang="th-TH" smtClean="0"/>
              <a:t>29/08/69</a:t>
            </a:fld>
            <a:endParaRPr lang="th-TH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BE139-9B5D-4995-9E8C-362F5E3B81B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32584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BE139-9B5D-4995-9E8C-362F5E3B81BF}" type="slidenum">
              <a:rPr lang="th-TH" smtClean="0"/>
              <a:t>11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83214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h-TH"/>
              <a:t>คลิกไอคอนเพื่อเพิ่มรูปภาพ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รูปภาพพาโนราม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h-TH"/>
              <a:t>คลิกไอคอนเพื่อเพิ่มรูปภาพ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ชื่อและคำอธิบา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คำอ้างอิงพร้อมคำอธิบา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นามบัตร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นามบัตรอ้างอิ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จริง หรือ เท็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image" Target="../media/image24.jpe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g"/><Relationship Id="rId5" Type="http://schemas.openxmlformats.org/officeDocument/2006/relationships/image" Target="../media/image36.jpg"/><Relationship Id="rId4" Type="http://schemas.openxmlformats.org/officeDocument/2006/relationships/image" Target="../media/image35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1.xml"/><Relationship Id="rId4" Type="http://schemas.openxmlformats.org/officeDocument/2006/relationships/image" Target="../media/image40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jp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z-a0tzgDvrs?feature=oembed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-0U7r-BQABQ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2BCBB1DF-CC70-A25A-1E23-2660DC043C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6377" y="1418288"/>
            <a:ext cx="6970311" cy="2010712"/>
          </a:xfrm>
        </p:spPr>
        <p:txBody>
          <a:bodyPr>
            <a:normAutofit/>
          </a:bodyPr>
          <a:lstStyle/>
          <a:p>
            <a:r>
              <a:rPr lang="th-TH" sz="5400" b="1" cap="none" dirty="0">
                <a:ln w="22225">
                  <a:solidFill>
                    <a:schemeClr val="accent2"/>
                  </a:solidFill>
                  <a:prstDash val="solid"/>
                </a:ln>
                <a:cs typeface="+mn-cs"/>
              </a:rPr>
              <a:t>การพยาบาลผู้ป่วยผ่าตัดเปลี่ยนข้อเข่าเทียม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E1A02B83-4D70-3CD2-E85C-57BE29EFD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64088" y="4698505"/>
            <a:ext cx="5581650" cy="1482414"/>
          </a:xfrm>
        </p:spPr>
        <p:txBody>
          <a:bodyPr>
            <a:noAutofit/>
          </a:bodyPr>
          <a:lstStyle/>
          <a:p>
            <a:r>
              <a:rPr lang="th-TH" sz="4800" b="1" cap="none" dirty="0">
                <a:ln w="22225">
                  <a:solidFill>
                    <a:schemeClr val="accent2"/>
                  </a:solidFill>
                  <a:prstDash val="solid"/>
                </a:ln>
              </a:rPr>
              <a:t>พว.ศิริชล เนตรสว่าง        (งานการพยาบาลผ่าตัด)</a:t>
            </a:r>
          </a:p>
        </p:txBody>
      </p:sp>
      <p:pic>
        <p:nvPicPr>
          <p:cNvPr id="5" name="รูปภาพ 4" descr="Knee Replacement Surgery For Accute Knee Pain – Neo Orthopaedic Clinic">
            <a:extLst>
              <a:ext uri="{FF2B5EF4-FFF2-40B4-BE49-F238E27FC236}">
                <a16:creationId xmlns:a16="http://schemas.microsoft.com/office/drawing/2014/main" id="{6D0420DE-8C7F-16FC-5EC7-573CECA82E6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14" r="49484"/>
          <a:stretch/>
        </p:blipFill>
        <p:spPr bwMode="auto">
          <a:xfrm>
            <a:off x="346262" y="330517"/>
            <a:ext cx="4166048" cy="616553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00668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70AE538F-1895-E250-5D2A-6B47B4CD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255643"/>
            <a:ext cx="7110662" cy="1011684"/>
          </a:xfrm>
        </p:spPr>
        <p:txBody>
          <a:bodyPr/>
          <a:lstStyle/>
          <a:p>
            <a:r>
              <a:rPr lang="th-TH" b="1" dirty="0">
                <a:cs typeface="+mn-cs"/>
              </a:rPr>
              <a:t>TKA. (</a:t>
            </a:r>
            <a:r>
              <a:rPr lang="th-TH" b="1" dirty="0" err="1">
                <a:cs typeface="+mn-cs"/>
              </a:rPr>
              <a:t>Total</a:t>
            </a:r>
            <a:r>
              <a:rPr lang="th-TH" b="1" dirty="0">
                <a:cs typeface="+mn-cs"/>
              </a:rPr>
              <a:t> </a:t>
            </a:r>
            <a:r>
              <a:rPr lang="th-TH" b="1" dirty="0" err="1">
                <a:cs typeface="+mn-cs"/>
              </a:rPr>
              <a:t>knee</a:t>
            </a:r>
            <a:r>
              <a:rPr lang="th-TH" b="1" dirty="0">
                <a:cs typeface="+mn-cs"/>
              </a:rPr>
              <a:t> </a:t>
            </a:r>
            <a:r>
              <a:rPr lang="th-TH" b="1" dirty="0" err="1">
                <a:cs typeface="+mn-cs"/>
              </a:rPr>
              <a:t>arthroplasty</a:t>
            </a:r>
            <a:r>
              <a:rPr lang="th-TH" b="1" dirty="0">
                <a:cs typeface="+mn-cs"/>
              </a:rPr>
              <a:t>)</a:t>
            </a:r>
          </a:p>
        </p:txBody>
      </p:sp>
      <p:pic>
        <p:nvPicPr>
          <p:cNvPr id="8" name="Picture 3" descr="Revision Total Knee Replacement">
            <a:extLst>
              <a:ext uri="{FF2B5EF4-FFF2-40B4-BE49-F238E27FC236}">
                <a16:creationId xmlns:a16="http://schemas.microsoft.com/office/drawing/2014/main" id="{B670BA57-4449-4C22-71C3-E5082D9129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358" y="1971772"/>
            <a:ext cx="10811698" cy="46305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ชื่อเรื่อง 1">
            <a:extLst>
              <a:ext uri="{FF2B5EF4-FFF2-40B4-BE49-F238E27FC236}">
                <a16:creationId xmlns:a16="http://schemas.microsoft.com/office/drawing/2014/main" id="{23D4715C-A9E7-B31A-A435-BDFF13BE620D}"/>
              </a:ext>
            </a:extLst>
          </p:cNvPr>
          <p:cNvSpPr txBox="1">
            <a:spLocks/>
          </p:cNvSpPr>
          <p:nvPr/>
        </p:nvSpPr>
        <p:spPr>
          <a:xfrm>
            <a:off x="4928879" y="873779"/>
            <a:ext cx="3698669" cy="13014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th-TH" b="1" dirty="0">
                <a:cs typeface="+mn-cs"/>
              </a:rPr>
              <a:t>งอได้  125 – 130 องศา</a:t>
            </a:r>
          </a:p>
        </p:txBody>
      </p:sp>
    </p:spTree>
    <p:extLst>
      <p:ext uri="{BB962C8B-B14F-4D97-AF65-F5344CB8AC3E}">
        <p14:creationId xmlns:p14="http://schemas.microsoft.com/office/powerpoint/2010/main" val="3240817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6EFEB001-862A-C229-6147-3EECD47D8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959" y="119801"/>
            <a:ext cx="6918157" cy="1099400"/>
          </a:xfrm>
        </p:spPr>
        <p:txBody>
          <a:bodyPr/>
          <a:lstStyle/>
          <a:p>
            <a:r>
              <a:rPr lang="th-TH" b="1" dirty="0">
                <a:cs typeface="+mn-cs"/>
              </a:rPr>
              <a:t>TKA. (</a:t>
            </a:r>
            <a:r>
              <a:rPr lang="th-TH" b="1" dirty="0" err="1">
                <a:cs typeface="+mn-cs"/>
              </a:rPr>
              <a:t>Total</a:t>
            </a:r>
            <a:r>
              <a:rPr lang="th-TH" b="1" dirty="0">
                <a:cs typeface="+mn-cs"/>
              </a:rPr>
              <a:t> </a:t>
            </a:r>
            <a:r>
              <a:rPr lang="th-TH" b="1" dirty="0" err="1">
                <a:cs typeface="+mn-cs"/>
              </a:rPr>
              <a:t>knee</a:t>
            </a:r>
            <a:r>
              <a:rPr lang="th-TH" b="1" dirty="0">
                <a:cs typeface="+mn-cs"/>
              </a:rPr>
              <a:t> </a:t>
            </a:r>
            <a:r>
              <a:rPr lang="th-TH" b="1" dirty="0" err="1">
                <a:cs typeface="+mn-cs"/>
              </a:rPr>
              <a:t>arthroplasty</a:t>
            </a:r>
            <a:r>
              <a:rPr lang="th-TH" b="1" dirty="0">
                <a:cs typeface="+mn-cs"/>
              </a:rPr>
              <a:t>)</a:t>
            </a:r>
            <a:endParaRPr lang="th-TH" dirty="0"/>
          </a:p>
        </p:txBody>
      </p:sp>
      <p:pic>
        <p:nvPicPr>
          <p:cNvPr id="4" name="Picture 1" descr="Tribological conditions in mobile bearing total knee prostheses -  ScienceDirect">
            <a:extLst>
              <a:ext uri="{FF2B5EF4-FFF2-40B4-BE49-F238E27FC236}">
                <a16:creationId xmlns:a16="http://schemas.microsoft.com/office/drawing/2014/main" id="{F636578D-26D6-2675-80BF-CDCE0C8E9F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897" y="1919656"/>
            <a:ext cx="8530724" cy="483700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ชื่อเรื่อง 1">
            <a:extLst>
              <a:ext uri="{FF2B5EF4-FFF2-40B4-BE49-F238E27FC236}">
                <a16:creationId xmlns:a16="http://schemas.microsoft.com/office/drawing/2014/main" id="{734DACA7-507F-6EF3-B1F8-E44C44B9CB4A}"/>
              </a:ext>
            </a:extLst>
          </p:cNvPr>
          <p:cNvSpPr txBox="1">
            <a:spLocks/>
          </p:cNvSpPr>
          <p:nvPr/>
        </p:nvSpPr>
        <p:spPr>
          <a:xfrm>
            <a:off x="4880752" y="1053383"/>
            <a:ext cx="3698669" cy="85023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cs typeface="+mn-cs"/>
              </a:rPr>
              <a:t>Mobile baring</a:t>
            </a:r>
            <a:endParaRPr lang="th-TH" b="1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820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77D9280-EE11-AF8C-61BA-56DF64B3F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875" y="297783"/>
            <a:ext cx="10131425" cy="812179"/>
          </a:xfrm>
        </p:spPr>
        <p:txBody>
          <a:bodyPr/>
          <a:lstStyle/>
          <a:p>
            <a:r>
              <a:rPr lang="th-TH" b="1" dirty="0">
                <a:cs typeface="+mn-cs"/>
              </a:rPr>
              <a:t>TKA. (</a:t>
            </a:r>
            <a:r>
              <a:rPr lang="th-TH" b="1" dirty="0" err="1">
                <a:cs typeface="+mn-cs"/>
              </a:rPr>
              <a:t>Total</a:t>
            </a:r>
            <a:r>
              <a:rPr lang="th-TH" b="1" dirty="0">
                <a:cs typeface="+mn-cs"/>
              </a:rPr>
              <a:t> </a:t>
            </a:r>
            <a:r>
              <a:rPr lang="th-TH" b="1" dirty="0" err="1">
                <a:cs typeface="+mn-cs"/>
              </a:rPr>
              <a:t>knee</a:t>
            </a:r>
            <a:r>
              <a:rPr lang="th-TH" b="1" dirty="0">
                <a:cs typeface="+mn-cs"/>
              </a:rPr>
              <a:t> </a:t>
            </a:r>
            <a:r>
              <a:rPr lang="th-TH" b="1" dirty="0" err="1">
                <a:cs typeface="+mn-cs"/>
              </a:rPr>
              <a:t>arthroplasty</a:t>
            </a:r>
            <a:r>
              <a:rPr lang="th-TH" b="1" dirty="0">
                <a:cs typeface="+mn-cs"/>
              </a:rPr>
              <a:t>)</a:t>
            </a:r>
            <a:endParaRPr lang="th-TH" dirty="0"/>
          </a:p>
        </p:txBody>
      </p:sp>
      <p:pic>
        <p:nvPicPr>
          <p:cNvPr id="4" name="Picture 2" descr="Knee Surgery, Sports Traumatology, Arthroscopy on Twitter: &quot;This  meta-analysis compared the clinical outcomes between minimally invasive and  standard medial parapatellar approach for total knee arthroplasty. The  results encourages the use of MIS">
            <a:extLst>
              <a:ext uri="{FF2B5EF4-FFF2-40B4-BE49-F238E27FC236}">
                <a16:creationId xmlns:a16="http://schemas.microsoft.com/office/drawing/2014/main" id="{2D40A798-2F22-D110-FD08-6BE78958A4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293" y="2160444"/>
            <a:ext cx="5985498" cy="466586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ชื่อเรื่อง 1">
            <a:extLst>
              <a:ext uri="{FF2B5EF4-FFF2-40B4-BE49-F238E27FC236}">
                <a16:creationId xmlns:a16="http://schemas.microsoft.com/office/drawing/2014/main" id="{5B4327A3-5581-4144-0836-AAB253F18302}"/>
              </a:ext>
            </a:extLst>
          </p:cNvPr>
          <p:cNvSpPr txBox="1">
            <a:spLocks/>
          </p:cNvSpPr>
          <p:nvPr/>
        </p:nvSpPr>
        <p:spPr>
          <a:xfrm>
            <a:off x="4821690" y="817965"/>
            <a:ext cx="2614863" cy="1002884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>
                <a:cs typeface="+mn-cs"/>
              </a:rPr>
              <a:t>      MIS-TKA.</a:t>
            </a:r>
          </a:p>
        </p:txBody>
      </p: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FE623AF6-ADF0-E5D3-BAE5-54F5B3DA6D0C}"/>
              </a:ext>
            </a:extLst>
          </p:cNvPr>
          <p:cNvSpPr txBox="1"/>
          <p:nvPr/>
        </p:nvSpPr>
        <p:spPr>
          <a:xfrm>
            <a:off x="1512358" y="1545809"/>
            <a:ext cx="10633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Minimal invasive surgery total knee arthroplasty</a:t>
            </a:r>
            <a:endParaRPr lang="th-TH" sz="3600" dirty="0"/>
          </a:p>
        </p:txBody>
      </p:sp>
    </p:spTree>
    <p:extLst>
      <p:ext uri="{BB962C8B-B14F-4D97-AF65-F5344CB8AC3E}">
        <p14:creationId xmlns:p14="http://schemas.microsoft.com/office/powerpoint/2010/main" val="4058029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2780F50-30B5-06BB-EB0E-02215D140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0"/>
            <a:ext cx="2538662" cy="1456267"/>
          </a:xfrm>
        </p:spPr>
        <p:txBody>
          <a:bodyPr/>
          <a:lstStyle/>
          <a:p>
            <a:r>
              <a:rPr lang="en-US" b="1" dirty="0"/>
              <a:t>Arthritis</a:t>
            </a:r>
            <a:endParaRPr lang="th-TH" b="1" dirty="0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F781A45-6DC5-A590-3664-0E3302024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11990"/>
            <a:ext cx="2790815" cy="2634019"/>
          </a:xfrm>
        </p:spPr>
        <p:txBody>
          <a:bodyPr>
            <a:normAutofit/>
          </a:bodyPr>
          <a:lstStyle/>
          <a:p>
            <a:r>
              <a:rPr lang="en-US" dirty="0"/>
              <a:t>Age</a:t>
            </a:r>
          </a:p>
          <a:p>
            <a:r>
              <a:rPr lang="en-US" dirty="0"/>
              <a:t> Sex </a:t>
            </a:r>
          </a:p>
          <a:p>
            <a:r>
              <a:rPr lang="en-US" dirty="0"/>
              <a:t>Obesity</a:t>
            </a:r>
          </a:p>
          <a:p>
            <a:r>
              <a:rPr lang="en-US" dirty="0"/>
              <a:t> genetic </a:t>
            </a:r>
          </a:p>
          <a:p>
            <a:r>
              <a:rPr lang="en-US" dirty="0"/>
              <a:t>Repetitive knee injury</a:t>
            </a:r>
          </a:p>
        </p:txBody>
      </p:sp>
      <p:pic>
        <p:nvPicPr>
          <p:cNvPr id="4" name="รูปภาพ 3">
            <a:extLst>
              <a:ext uri="{FF2B5EF4-FFF2-40B4-BE49-F238E27FC236}">
                <a16:creationId xmlns:a16="http://schemas.microsoft.com/office/drawing/2014/main" id="{19FC1109-D145-7542-58A9-02E3930FBB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16" y="1126957"/>
            <a:ext cx="8387655" cy="52457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3307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057E3EE2-512E-E118-4083-05E830123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165" y="1"/>
            <a:ext cx="2236869" cy="1047750"/>
          </a:xfrm>
        </p:spPr>
        <p:txBody>
          <a:bodyPr/>
          <a:lstStyle/>
          <a:p>
            <a:r>
              <a:rPr lang="en-US" b="1" dirty="0"/>
              <a:t>Arthritis</a:t>
            </a:r>
            <a:endParaRPr lang="th-TH" b="1" dirty="0"/>
          </a:p>
        </p:txBody>
      </p:sp>
      <p:pic>
        <p:nvPicPr>
          <p:cNvPr id="6" name="ตัวแทนเนื้อหา 5" descr="Rheumatoid Arthritis Symptoms, Treatments &amp; Causes">
            <a:extLst>
              <a:ext uri="{FF2B5EF4-FFF2-40B4-BE49-F238E27FC236}">
                <a16:creationId xmlns:a16="http://schemas.microsoft.com/office/drawing/2014/main" id="{756B8C88-1224-CFC3-C463-68A3AFBAA9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763" y="1047750"/>
            <a:ext cx="7777197" cy="56718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4910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D2A0077E-7771-396C-62CA-01ADAD5EB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0647" y="0"/>
            <a:ext cx="2258853" cy="1273031"/>
          </a:xfrm>
        </p:spPr>
        <p:txBody>
          <a:bodyPr/>
          <a:lstStyle/>
          <a:p>
            <a:r>
              <a:rPr lang="en-US" b="1" dirty="0"/>
              <a:t>Arthritis</a:t>
            </a:r>
            <a:endParaRPr lang="th-TH" b="1" dirty="0"/>
          </a:p>
        </p:txBody>
      </p:sp>
      <p:pic>
        <p:nvPicPr>
          <p:cNvPr id="4" name="รูปภาพ 3" descr="Gout Knee: Causes, Symptoms &amp; Treatment - Knee Pain Explained">
            <a:extLst>
              <a:ext uri="{FF2B5EF4-FFF2-40B4-BE49-F238E27FC236}">
                <a16:creationId xmlns:a16="http://schemas.microsoft.com/office/drawing/2014/main" id="{57560A1A-A6E9-9D67-D0AB-0F52272505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" y="1315453"/>
            <a:ext cx="6074812" cy="443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รูปภาพ 4">
            <a:extLst>
              <a:ext uri="{FF2B5EF4-FFF2-40B4-BE49-F238E27FC236}">
                <a16:creationId xmlns:a16="http://schemas.microsoft.com/office/drawing/2014/main" id="{251FBC3E-297C-FEBE-4095-A18AD7303A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0" y="1315454"/>
            <a:ext cx="5885180" cy="44333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71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9EF386C4-EA79-AFC3-DEC4-1BD48DA93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355" y="19658"/>
            <a:ext cx="2617476" cy="1156177"/>
          </a:xfrm>
        </p:spPr>
        <p:txBody>
          <a:bodyPr/>
          <a:lstStyle/>
          <a:p>
            <a:r>
              <a:rPr lang="en-US" b="1" dirty="0"/>
              <a:t>treatment</a:t>
            </a:r>
            <a:endParaRPr lang="th-TH" b="1" dirty="0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7D0A8C6-4F93-B1C6-D356-C48C6A9AF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64" y="990601"/>
            <a:ext cx="3436611" cy="8001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1.Conservative treatment</a:t>
            </a:r>
          </a:p>
          <a:p>
            <a:pPr marL="0" indent="0">
              <a:buNone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• </a:t>
            </a:r>
            <a:r>
              <a:rPr lang="en-US" dirty="0"/>
              <a:t>Non-medication treatments</a:t>
            </a:r>
          </a:p>
        </p:txBody>
      </p:sp>
      <p:pic>
        <p:nvPicPr>
          <p:cNvPr id="5" name="Picture 9" descr="เล่าประสบการณ์วิธีการดูแลผู้สูงอายุในบ้าน “โรคข้อเข่าเสื่อม”  หายยากแต่ดีขึ้นได้ - Pantip">
            <a:extLst>
              <a:ext uri="{FF2B5EF4-FFF2-40B4-BE49-F238E27FC236}">
                <a16:creationId xmlns:a16="http://schemas.microsoft.com/office/drawing/2014/main" id="{ABBAB0E6-37DE-08D3-97DA-1F577BC2E0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446" y="3695701"/>
            <a:ext cx="3821253" cy="2999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รูปภาพ 5" descr="ฉีดยาข้อเข่า ทางเลือกเพื่อลดอาการข้อเข่าเสื่อม | โรงพยาบาลบำรุงราษฎร์">
            <a:extLst>
              <a:ext uri="{FF2B5EF4-FFF2-40B4-BE49-F238E27FC236}">
                <a16:creationId xmlns:a16="http://schemas.microsoft.com/office/drawing/2014/main" id="{0915DDFF-D469-5215-5066-AC761AEF49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021" y="3695701"/>
            <a:ext cx="3106002" cy="2999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รูปภาพ 6" descr="ข้อเข่าเสื่อมรักษาได้ คืนความสุขให้ชีวิต">
            <a:extLst>
              <a:ext uri="{FF2B5EF4-FFF2-40B4-BE49-F238E27FC236}">
                <a16:creationId xmlns:a16="http://schemas.microsoft.com/office/drawing/2014/main" id="{39679AE9-9889-1C0E-7013-DC560F94005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1457" y="228601"/>
            <a:ext cx="2985025" cy="3148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รูปภาพ 7" descr="ระวัง! ท่านั่งเร่งเข่าเสื่อม - Wellness - ถุงเท้าเพื่อสุขภาพ Wellness">
            <a:extLst>
              <a:ext uri="{FF2B5EF4-FFF2-40B4-BE49-F238E27FC236}">
                <a16:creationId xmlns:a16="http://schemas.microsoft.com/office/drawing/2014/main" id="{8A0B687E-7EA9-0CCC-0188-FEECC3F1AC8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9645" y="228600"/>
            <a:ext cx="2506087" cy="3168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รูปภาพ 8" descr="ผ่าตัดลดขนาดกระเพาะ เพื่อลดน้ำหนักรักษาโรคอ้วน – โรงพยาบาลธนบุรี">
            <a:extLst>
              <a:ext uri="{FF2B5EF4-FFF2-40B4-BE49-F238E27FC236}">
                <a16:creationId xmlns:a16="http://schemas.microsoft.com/office/drawing/2014/main" id="{CAC53174-D946-7BCF-6B55-18F2712E44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6482" y="228600"/>
            <a:ext cx="2987462" cy="3145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รูปภาพ 9" descr="ไม่อยากข้อเข่าเสื่อม มาลองทำท่าบริหารข้อเข่ากัน | โรงพยาบาลศิริราช  ปิยมหาราชการุณย์">
            <a:extLst>
              <a:ext uri="{FF2B5EF4-FFF2-40B4-BE49-F238E27FC236}">
                <a16:creationId xmlns:a16="http://schemas.microsoft.com/office/drawing/2014/main" id="{F27B2914-474F-0E9D-F944-A83A98753F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68" y="2173607"/>
            <a:ext cx="3387807" cy="448850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C07E2B9E-0E0E-42A5-BD00-7CF8175DDBD6}"/>
              </a:ext>
            </a:extLst>
          </p:cNvPr>
          <p:cNvSpPr txBox="1"/>
          <p:nvPr/>
        </p:nvSpPr>
        <p:spPr>
          <a:xfrm>
            <a:off x="63164" y="1838422"/>
            <a:ext cx="2850003" cy="375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• </a:t>
            </a:r>
            <a:r>
              <a:rPr lang="en-US" dirty="0"/>
              <a:t>Medication treatments</a:t>
            </a:r>
          </a:p>
        </p:txBody>
      </p:sp>
    </p:spTree>
    <p:extLst>
      <p:ext uri="{BB962C8B-B14F-4D97-AF65-F5344CB8AC3E}">
        <p14:creationId xmlns:p14="http://schemas.microsoft.com/office/powerpoint/2010/main" val="699655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D7A2FA0-EDDF-1E24-063E-C72467FFC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50" y="185900"/>
            <a:ext cx="2705100" cy="1456267"/>
          </a:xfrm>
        </p:spPr>
        <p:txBody>
          <a:bodyPr/>
          <a:lstStyle/>
          <a:p>
            <a:r>
              <a:rPr lang="en-US" b="1" dirty="0"/>
              <a:t>treatment</a:t>
            </a:r>
            <a:endParaRPr lang="th-TH" b="1" dirty="0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F5D386E3-FB76-CB24-4992-5E22802B2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850" y="1333500"/>
            <a:ext cx="5617350" cy="12954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2. Surgical treatmen</a:t>
            </a:r>
            <a:r>
              <a:rPr lang="en-US" dirty="0"/>
              <a:t>t</a:t>
            </a:r>
          </a:p>
          <a:p>
            <a:pPr marL="0" indent="0"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•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U</a:t>
            </a:r>
            <a:r>
              <a:rPr lang="en-US" sz="2000" dirty="0" err="1"/>
              <a:t>nicompartmental</a:t>
            </a:r>
            <a:r>
              <a:rPr lang="en-US" sz="2000" dirty="0"/>
              <a:t> knee  arthroplasty</a:t>
            </a:r>
            <a:endParaRPr lang="th-TH" sz="2000" dirty="0"/>
          </a:p>
        </p:txBody>
      </p:sp>
      <p:pic>
        <p:nvPicPr>
          <p:cNvPr id="5" name="รูปภาพ 4" descr="Fixed bearing UKA: noncongruous articular surface, small contact area, large point contact force, and 'insert' fixed to base plate. Mobile bearing UKA: congruous articular surface, large contact area, small point contact force, and mobile 'insert'">
            <a:extLst>
              <a:ext uri="{FF2B5EF4-FFF2-40B4-BE49-F238E27FC236}">
                <a16:creationId xmlns:a16="http://schemas.microsoft.com/office/drawing/2014/main" id="{3206A153-B8BD-6C31-31E0-ACF25F6CD38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69" t="605" r="9628" b="61318"/>
          <a:stretch/>
        </p:blipFill>
        <p:spPr bwMode="auto">
          <a:xfrm>
            <a:off x="4509354" y="185900"/>
            <a:ext cx="3309042" cy="310974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รูปภาพ 5" descr="JOURNEY II TKA | Smith+Nephew USA">
            <a:extLst>
              <a:ext uri="{FF2B5EF4-FFF2-40B4-BE49-F238E27FC236}">
                <a16:creationId xmlns:a16="http://schemas.microsoft.com/office/drawing/2014/main" id="{AA48EEF5-2B56-27E3-EBF5-178526F2B5A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01" r="14345"/>
          <a:stretch/>
        </p:blipFill>
        <p:spPr bwMode="auto">
          <a:xfrm>
            <a:off x="4276775" y="3307472"/>
            <a:ext cx="3676552" cy="357301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รูปภาพ 6" descr="Management of failed UKA to TKA: conventional versus robotic-assisted  conversion technique | Knee Surgery &amp; Related Research | Full Text">
            <a:extLst>
              <a:ext uri="{FF2B5EF4-FFF2-40B4-BE49-F238E27FC236}">
                <a16:creationId xmlns:a16="http://schemas.microsoft.com/office/drawing/2014/main" id="{D17A26B5-B954-2515-F41C-F1696E99FB0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819"/>
          <a:stretch/>
        </p:blipFill>
        <p:spPr bwMode="auto">
          <a:xfrm>
            <a:off x="7953327" y="183800"/>
            <a:ext cx="3946796" cy="310974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รูปภาพ 7" descr="Management of failed UKA to TKA: conventional versus robotic-assisted  conversion technique | Knee Surgery &amp; Related Research | Full Text">
            <a:extLst>
              <a:ext uri="{FF2B5EF4-FFF2-40B4-BE49-F238E27FC236}">
                <a16:creationId xmlns:a16="http://schemas.microsoft.com/office/drawing/2014/main" id="{DB8ED4CC-876F-A360-6FFF-1C827AA418C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163"/>
          <a:stretch/>
        </p:blipFill>
        <p:spPr bwMode="auto">
          <a:xfrm>
            <a:off x="7972377" y="3545840"/>
            <a:ext cx="3946796" cy="308807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AFA089F8-50EE-11D4-43F3-D09E11E5A6A9}"/>
              </a:ext>
            </a:extLst>
          </p:cNvPr>
          <p:cNvSpPr txBox="1"/>
          <p:nvPr/>
        </p:nvSpPr>
        <p:spPr>
          <a:xfrm>
            <a:off x="423887" y="5089876"/>
            <a:ext cx="34194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• </a:t>
            </a:r>
            <a:r>
              <a:rPr lang="en-US" sz="2400" dirty="0"/>
              <a:t>Total knee arthroplasty</a:t>
            </a:r>
            <a:endParaRPr lang="th-TH" sz="2400" dirty="0"/>
          </a:p>
        </p:txBody>
      </p:sp>
    </p:spTree>
    <p:extLst>
      <p:ext uri="{BB962C8B-B14F-4D97-AF65-F5344CB8AC3E}">
        <p14:creationId xmlns:p14="http://schemas.microsoft.com/office/powerpoint/2010/main" val="135901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9FEB02E-B258-7281-AFAF-049C7346B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6248" y="475130"/>
            <a:ext cx="5371218" cy="1456267"/>
          </a:xfrm>
        </p:spPr>
        <p:txBody>
          <a:bodyPr>
            <a:normAutofit fontScale="90000"/>
          </a:bodyPr>
          <a:lstStyle/>
          <a:p>
            <a:r>
              <a:rPr lang="th-TH" sz="5400" b="1" dirty="0"/>
              <a:t>ถึงเวลาเปลี่ยนข้อเข่าเทียม</a:t>
            </a:r>
            <a:r>
              <a:rPr lang="en-US" sz="5400" b="1" dirty="0"/>
              <a:t>???</a:t>
            </a:r>
            <a:endParaRPr lang="th-TH" sz="5400" b="1" dirty="0"/>
          </a:p>
        </p:txBody>
      </p:sp>
      <p:pic>
        <p:nvPicPr>
          <p:cNvPr id="5" name="รูปภาพ 4" descr="เข่าเสื่อม.4">
            <a:extLst>
              <a:ext uri="{FF2B5EF4-FFF2-40B4-BE49-F238E27FC236}">
                <a16:creationId xmlns:a16="http://schemas.microsoft.com/office/drawing/2014/main" id="{E9AB6F99-BE91-27BF-B20A-4CC3568F8D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6947" y="2268336"/>
            <a:ext cx="5169821" cy="3902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รูปภาพ 5" descr="เลือกทานยาแก้ปวดเข่าข้ออักเสบแบบไหนดี?">
            <a:extLst>
              <a:ext uri="{FF2B5EF4-FFF2-40B4-BE49-F238E27FC236}">
                <a16:creationId xmlns:a16="http://schemas.microsoft.com/office/drawing/2014/main" id="{3A3D428F-49ED-4C04-066F-D7FA24B480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511" y="3928763"/>
            <a:ext cx="5025544" cy="2637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ตัวแทนเนื้อหา 8" descr="ปวดเข่า - Firstphysio Clinic">
            <a:extLst>
              <a:ext uri="{FF2B5EF4-FFF2-40B4-BE49-F238E27FC236}">
                <a16:creationId xmlns:a16="http://schemas.microsoft.com/office/drawing/2014/main" id="{377A15B6-6821-A50E-4D68-E82C1A9D52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512" y="259262"/>
            <a:ext cx="5025542" cy="33442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27949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7421134A-BB88-6088-0DEA-B8A3C0041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1393" y="17988"/>
            <a:ext cx="5283861" cy="1039700"/>
          </a:xfrm>
        </p:spPr>
        <p:txBody>
          <a:bodyPr/>
          <a:lstStyle/>
          <a:p>
            <a:r>
              <a:rPr lang="en-US" b="1" dirty="0"/>
              <a:t>Pre – Admission nurse</a:t>
            </a:r>
            <a:endParaRPr lang="th-TH" b="1" dirty="0"/>
          </a:p>
        </p:txBody>
      </p:sp>
      <p:pic>
        <p:nvPicPr>
          <p:cNvPr id="4" name="ตัวแทนเนื้อหา 3" descr="Chest X-Ray – The Canadian Centre for Refugee &amp; Immigrant Health Care">
            <a:extLst>
              <a:ext uri="{FF2B5EF4-FFF2-40B4-BE49-F238E27FC236}">
                <a16:creationId xmlns:a16="http://schemas.microsoft.com/office/drawing/2014/main" id="{B27676E5-5CE6-5C62-BEFB-E5079E28AD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23" y="352924"/>
            <a:ext cx="2871091" cy="2350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รูปภาพ 4" descr="vOl.6 no.2 june-december 2019">
            <a:extLst>
              <a:ext uri="{FF2B5EF4-FFF2-40B4-BE49-F238E27FC236}">
                <a16:creationId xmlns:a16="http://schemas.microsoft.com/office/drawing/2014/main" id="{4F66E79B-E894-9ACF-9F73-BCCFC43D95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341" y="2990714"/>
            <a:ext cx="2825489" cy="3609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รูปภาพ 5" descr="บริการของเรา - พาธแล็บ ศูนย์ตรวจสุขภาพ">
            <a:extLst>
              <a:ext uri="{FF2B5EF4-FFF2-40B4-BE49-F238E27FC236}">
                <a16:creationId xmlns:a16="http://schemas.microsoft.com/office/drawing/2014/main" id="{1148AB12-D8A1-7668-2229-39F43DF4075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6019" y="1057688"/>
            <a:ext cx="3941324" cy="2630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รูปภาพ 6" descr="ECG: การวิเคราะห์รูปคลื่นในคลื่นไฟฟ้าหัวใจ | ฉุกเฉินสด">
            <a:extLst>
              <a:ext uri="{FF2B5EF4-FFF2-40B4-BE49-F238E27FC236}">
                <a16:creationId xmlns:a16="http://schemas.microsoft.com/office/drawing/2014/main" id="{10F21ABD-F7E7-F8B1-7858-B4BE34D70E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6922" y="1057689"/>
            <a:ext cx="4513955" cy="2588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รูปภาพ 7" descr="หลอดเลือดดำอุดตัน ส่วนลึกหรือ Deep vein thrombosis (DVT) เป็นภาวะที่เกิดลิ่">
            <a:extLst>
              <a:ext uri="{FF2B5EF4-FFF2-40B4-BE49-F238E27FC236}">
                <a16:creationId xmlns:a16="http://schemas.microsoft.com/office/drawing/2014/main" id="{3E9F3331-11D8-F448-02ED-6FE86E6560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6742" y="4233405"/>
            <a:ext cx="4342410" cy="2443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รูปภาพ 8" descr="รีวิว เจลอาบน้ำ/สบู่เหลวเดทตอล สูตรไหนดี อาบสะอาด ปราศจากแบคทีเรีย ปี 2023  » Best Review Asia">
            <a:extLst>
              <a:ext uri="{FF2B5EF4-FFF2-40B4-BE49-F238E27FC236}">
                <a16:creationId xmlns:a16="http://schemas.microsoft.com/office/drawing/2014/main" id="{8ADA35D9-1709-435E-3B2F-96032173CD8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0602" y="4233406"/>
            <a:ext cx="4418048" cy="24431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17831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029AD70-2234-CEE2-7F9C-505D268BE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6902" y="-126625"/>
            <a:ext cx="5727032" cy="1456267"/>
          </a:xfrm>
        </p:spPr>
        <p:txBody>
          <a:bodyPr/>
          <a:lstStyle/>
          <a:p>
            <a:r>
              <a:rPr lang="en-US" b="1" dirty="0"/>
              <a:t>Preoperative assessment</a:t>
            </a:r>
            <a:endParaRPr lang="th-TH" b="1" dirty="0"/>
          </a:p>
        </p:txBody>
      </p:sp>
      <p:pic>
        <p:nvPicPr>
          <p:cNvPr id="4" name="ตัวแทนเนื้อหา 3" descr="Medical Record Images - Free Download on Freepik">
            <a:extLst>
              <a:ext uri="{FF2B5EF4-FFF2-40B4-BE49-F238E27FC236}">
                <a16:creationId xmlns:a16="http://schemas.microsoft.com/office/drawing/2014/main" id="{C21949E5-DD01-1766-E235-F3C8C94515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6796" y="1837014"/>
            <a:ext cx="3643581" cy="36435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รูปภาพ 4" descr="consent form - Clinical Research Glossary">
            <a:extLst>
              <a:ext uri="{FF2B5EF4-FFF2-40B4-BE49-F238E27FC236}">
                <a16:creationId xmlns:a16="http://schemas.microsoft.com/office/drawing/2014/main" id="{0379B5C3-F00C-8F0B-A10E-2B63954EAF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9836" y="3915237"/>
            <a:ext cx="4292589" cy="2688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รูปภาพ 7" descr="สีสายรัดข้อมือบอกความเสี่ยงผู้ป่วย – Let the box filled with ideas">
            <a:extLst>
              <a:ext uri="{FF2B5EF4-FFF2-40B4-BE49-F238E27FC236}">
                <a16:creationId xmlns:a16="http://schemas.microsoft.com/office/drawing/2014/main" id="{B9D8EBFA-22FD-81C7-CB29-CE526746D5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4" y="800577"/>
            <a:ext cx="3826423" cy="38264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5177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6AE6C56C-D004-45A0-9A10-E29583D7B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229847"/>
            <a:ext cx="10131425" cy="1456267"/>
          </a:xfrm>
        </p:spPr>
        <p:txBody>
          <a:bodyPr/>
          <a:lstStyle/>
          <a:p>
            <a:pPr algn="ctr"/>
            <a:r>
              <a:rPr lang="en-US" b="1" dirty="0"/>
              <a:t>Preoperative assessment</a:t>
            </a:r>
            <a:endParaRPr lang="th-TH" dirty="0"/>
          </a:p>
        </p:txBody>
      </p:sp>
      <p:pic>
        <p:nvPicPr>
          <p:cNvPr id="5" name="ตัวแทนเนื้อหา 4">
            <a:extLst>
              <a:ext uri="{FF2B5EF4-FFF2-40B4-BE49-F238E27FC236}">
                <a16:creationId xmlns:a16="http://schemas.microsoft.com/office/drawing/2014/main" id="{649331D6-A20B-415C-9BBB-CE7FAFCBBC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742" y="1600910"/>
            <a:ext cx="2068349" cy="3675628"/>
          </a:xfrm>
        </p:spPr>
      </p:pic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49383131-CBB0-4DFC-8506-2F968F2C1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700" y="1600910"/>
            <a:ext cx="2068348" cy="3675628"/>
          </a:xfrm>
          <a:prstGeom prst="rect">
            <a:avLst/>
          </a:prstGeom>
        </p:spPr>
      </p:pic>
      <p:pic>
        <p:nvPicPr>
          <p:cNvPr id="9" name="รูปภาพ 8">
            <a:extLst>
              <a:ext uri="{FF2B5EF4-FFF2-40B4-BE49-F238E27FC236}">
                <a16:creationId xmlns:a16="http://schemas.microsoft.com/office/drawing/2014/main" id="{54D98BC2-3327-49FE-A48D-63A1888E80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9656" y="1600910"/>
            <a:ext cx="2068349" cy="3675628"/>
          </a:xfrm>
          <a:prstGeom prst="rect">
            <a:avLst/>
          </a:prstGeom>
        </p:spPr>
      </p:pic>
      <p:pic>
        <p:nvPicPr>
          <p:cNvPr id="11" name="รูปภาพ 10">
            <a:extLst>
              <a:ext uri="{FF2B5EF4-FFF2-40B4-BE49-F238E27FC236}">
                <a16:creationId xmlns:a16="http://schemas.microsoft.com/office/drawing/2014/main" id="{F008EB5F-085A-4459-8593-DA323FAF1B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4503" y="1675858"/>
            <a:ext cx="2026173" cy="3600680"/>
          </a:xfrm>
          <a:prstGeom prst="rect">
            <a:avLst/>
          </a:prstGeom>
        </p:spPr>
      </p:pic>
      <p:pic>
        <p:nvPicPr>
          <p:cNvPr id="15" name="รูปภาพ 14">
            <a:extLst>
              <a:ext uri="{FF2B5EF4-FFF2-40B4-BE49-F238E27FC236}">
                <a16:creationId xmlns:a16="http://schemas.microsoft.com/office/drawing/2014/main" id="{B95DFCBF-EB1A-48B5-B299-8B35A604BB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9137305" y="2463111"/>
            <a:ext cx="3600681" cy="202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116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0D80163-30BE-5653-69BA-3FDC1DB86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1" y="-239585"/>
            <a:ext cx="4217697" cy="1456267"/>
          </a:xfrm>
        </p:spPr>
        <p:txBody>
          <a:bodyPr>
            <a:normAutofit/>
          </a:bodyPr>
          <a:lstStyle/>
          <a:p>
            <a:r>
              <a:rPr lang="en-US" sz="4000" b="1" dirty="0"/>
              <a:t>OR preparation</a:t>
            </a:r>
            <a:endParaRPr lang="th-TH" sz="4000" b="1" dirty="0"/>
          </a:p>
        </p:txBody>
      </p:sp>
      <p:pic>
        <p:nvPicPr>
          <p:cNvPr id="11" name="รูปภาพ 10">
            <a:extLst>
              <a:ext uri="{FF2B5EF4-FFF2-40B4-BE49-F238E27FC236}">
                <a16:creationId xmlns:a16="http://schemas.microsoft.com/office/drawing/2014/main" id="{C4AC376C-E1C6-4E0D-937D-F2FCFAA77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654" y="830888"/>
            <a:ext cx="5940932" cy="3343080"/>
          </a:xfrm>
          <a:prstGeom prst="rect">
            <a:avLst/>
          </a:prstGeom>
        </p:spPr>
      </p:pic>
      <p:pic>
        <p:nvPicPr>
          <p:cNvPr id="15" name="รูปภาพ 14">
            <a:extLst>
              <a:ext uri="{FF2B5EF4-FFF2-40B4-BE49-F238E27FC236}">
                <a16:creationId xmlns:a16="http://schemas.microsoft.com/office/drawing/2014/main" id="{951944DF-0320-4B82-A9DC-A8A01BDF4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479" y="830888"/>
            <a:ext cx="3203703" cy="5693247"/>
          </a:xfrm>
          <a:prstGeom prst="rect">
            <a:avLst/>
          </a:prstGeom>
        </p:spPr>
      </p:pic>
      <p:pic>
        <p:nvPicPr>
          <p:cNvPr id="17" name="รูปภาพ 16">
            <a:extLst>
              <a:ext uri="{FF2B5EF4-FFF2-40B4-BE49-F238E27FC236}">
                <a16:creationId xmlns:a16="http://schemas.microsoft.com/office/drawing/2014/main" id="{4C0AE69A-A788-46CD-AE52-47F003B07A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8779" y="4355572"/>
            <a:ext cx="4447023" cy="250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379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172AA16-F55E-428B-8971-144FB9270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503" y="0"/>
            <a:ext cx="5939851" cy="1456267"/>
          </a:xfrm>
        </p:spPr>
        <p:txBody>
          <a:bodyPr/>
          <a:lstStyle/>
          <a:p>
            <a:pPr algn="ctr"/>
            <a:r>
              <a:rPr lang="en-US" sz="3600" b="1" dirty="0"/>
              <a:t>OR preparation</a:t>
            </a:r>
            <a:endParaRPr lang="th-TH" dirty="0"/>
          </a:p>
        </p:txBody>
      </p:sp>
      <p:pic>
        <p:nvPicPr>
          <p:cNvPr id="4" name="รูปภาพ 3">
            <a:extLst>
              <a:ext uri="{FF2B5EF4-FFF2-40B4-BE49-F238E27FC236}">
                <a16:creationId xmlns:a16="http://schemas.microsoft.com/office/drawing/2014/main" id="{EEBDB994-B064-41D9-9E46-8CC13F313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458" y="1310056"/>
            <a:ext cx="6049372" cy="3404101"/>
          </a:xfrm>
          <a:prstGeom prst="rect">
            <a:avLst/>
          </a:prstGeom>
        </p:spPr>
      </p:pic>
      <p:pic>
        <p:nvPicPr>
          <p:cNvPr id="5" name="รูปภาพ 4" descr="ส่องมาตรการห้องผ่าตัดบำรุงราษฎร์ ปลอดเชื้อ แบบเข้มข้น | โรงพยาบาลบำรุงราษฎร์">
            <a:extLst>
              <a:ext uri="{FF2B5EF4-FFF2-40B4-BE49-F238E27FC236}">
                <a16:creationId xmlns:a16="http://schemas.microsoft.com/office/drawing/2014/main" id="{02B39CF6-FC48-42B0-B4DA-34CBF2FC30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5575" y="3177257"/>
            <a:ext cx="5139968" cy="34247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3050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769C22A7-96EE-48A2-A0B5-D18100259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982" y="1178761"/>
            <a:ext cx="4199609" cy="893559"/>
          </a:xfrm>
        </p:spPr>
        <p:txBody>
          <a:bodyPr/>
          <a:lstStyle/>
          <a:p>
            <a:pPr algn="ctr"/>
            <a:r>
              <a:rPr lang="en-US" sz="3600" b="1" dirty="0"/>
              <a:t>OR preparation</a:t>
            </a:r>
            <a:endParaRPr lang="th-TH" dirty="0"/>
          </a:p>
        </p:txBody>
      </p:sp>
      <p:pic>
        <p:nvPicPr>
          <p:cNvPr id="4" name="Picture 7" descr="DSC_0188">
            <a:extLst>
              <a:ext uri="{FF2B5EF4-FFF2-40B4-BE49-F238E27FC236}">
                <a16:creationId xmlns:a16="http://schemas.microsoft.com/office/drawing/2014/main" id="{1726FECC-E598-40BA-91F8-7A6F4FA847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1140" y="3151066"/>
            <a:ext cx="5596835" cy="3557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รูปภาพ 4">
            <a:extLst>
              <a:ext uri="{FF2B5EF4-FFF2-40B4-BE49-F238E27FC236}">
                <a16:creationId xmlns:a16="http://schemas.microsoft.com/office/drawing/2014/main" id="{77522C42-7925-4790-9EB9-D3F17D750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57" y="187251"/>
            <a:ext cx="6111874" cy="3439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929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C16181C2-1DF8-EE31-7FA0-8E917F890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1507" y="-16043"/>
            <a:ext cx="5104519" cy="1214929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Intra-operative phase</a:t>
            </a:r>
            <a:endParaRPr lang="th-TH" sz="4000" b="1" dirty="0"/>
          </a:p>
        </p:txBody>
      </p:sp>
      <p:pic>
        <p:nvPicPr>
          <p:cNvPr id="8" name="รูปภาพ 7" descr="วิสัญญีวิทยา – TSM">
            <a:extLst>
              <a:ext uri="{FF2B5EF4-FFF2-40B4-BE49-F238E27FC236}">
                <a16:creationId xmlns:a16="http://schemas.microsoft.com/office/drawing/2014/main" id="{F864B017-1101-63C6-DE68-A543535BB9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8878" y="1062775"/>
            <a:ext cx="8468884" cy="56453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48208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C8BDB91-77C1-499B-B2DA-AE8AD7CE7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837" y="4604705"/>
            <a:ext cx="5485942" cy="1456267"/>
          </a:xfrm>
        </p:spPr>
        <p:txBody>
          <a:bodyPr/>
          <a:lstStyle/>
          <a:p>
            <a:pPr algn="ctr"/>
            <a:r>
              <a:rPr lang="en-US" sz="3600" b="1" dirty="0"/>
              <a:t>Intra-operative phase</a:t>
            </a:r>
            <a:endParaRPr lang="th-TH" dirty="0"/>
          </a:p>
        </p:txBody>
      </p:sp>
      <p:pic>
        <p:nvPicPr>
          <p:cNvPr id="5" name="Picture 8" descr="DSC_0234">
            <a:extLst>
              <a:ext uri="{FF2B5EF4-FFF2-40B4-BE49-F238E27FC236}">
                <a16:creationId xmlns:a16="http://schemas.microsoft.com/office/drawing/2014/main" id="{D03F560B-866E-4139-9AE2-432E30F615B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54945" y="800542"/>
            <a:ext cx="4547963" cy="2875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รูปภาพ 5" descr="โกนขนอย่างไร เสี่ยง “ขนคุด”?">
            <a:extLst>
              <a:ext uri="{FF2B5EF4-FFF2-40B4-BE49-F238E27FC236}">
                <a16:creationId xmlns:a16="http://schemas.microsoft.com/office/drawing/2014/main" id="{55C88393-BB86-4CA1-9F5C-CF72F175BD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9" y="180135"/>
            <a:ext cx="3871496" cy="2321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รูปภาพ 7">
            <a:extLst>
              <a:ext uri="{FF2B5EF4-FFF2-40B4-BE49-F238E27FC236}">
                <a16:creationId xmlns:a16="http://schemas.microsoft.com/office/drawing/2014/main" id="{3D6F25BC-5898-4CC9-BA6D-4A577A3252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9814" y="3895273"/>
            <a:ext cx="5109349" cy="287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134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0DA10E46-8C91-491C-978F-F25B0DC8B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681" y="-349769"/>
            <a:ext cx="10131425" cy="1456267"/>
          </a:xfrm>
        </p:spPr>
        <p:txBody>
          <a:bodyPr/>
          <a:lstStyle/>
          <a:p>
            <a:pPr algn="ctr"/>
            <a:r>
              <a:rPr lang="en-US" sz="3600" b="1" dirty="0"/>
              <a:t>Intra-operative phase</a:t>
            </a:r>
            <a:endParaRPr lang="th-TH" dirty="0"/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F6229866-95E9-4AF2-BA91-A699C6C63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55" y="842454"/>
            <a:ext cx="3281677" cy="5831814"/>
          </a:xfrm>
          <a:prstGeom prst="rect">
            <a:avLst/>
          </a:prstGeom>
        </p:spPr>
      </p:pic>
      <p:pic>
        <p:nvPicPr>
          <p:cNvPr id="9" name="รูปภาพ 8">
            <a:extLst>
              <a:ext uri="{FF2B5EF4-FFF2-40B4-BE49-F238E27FC236}">
                <a16:creationId xmlns:a16="http://schemas.microsoft.com/office/drawing/2014/main" id="{47ECF77A-A84C-42D5-B3F5-3BF5BE8AE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273110" y="2117573"/>
            <a:ext cx="5772244" cy="3248155"/>
          </a:xfrm>
          <a:prstGeom prst="rect">
            <a:avLst/>
          </a:prstGeom>
        </p:spPr>
      </p:pic>
      <p:pic>
        <p:nvPicPr>
          <p:cNvPr id="11" name="รูปภาพ 10">
            <a:extLst>
              <a:ext uri="{FF2B5EF4-FFF2-40B4-BE49-F238E27FC236}">
                <a16:creationId xmlns:a16="http://schemas.microsoft.com/office/drawing/2014/main" id="{6D811858-F8A4-4162-A7AD-D0134C470F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7337" y="952979"/>
            <a:ext cx="3210760" cy="5705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316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504DFD02-2404-4CA3-96A7-D44B0A8EC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362" y="4149659"/>
            <a:ext cx="10131425" cy="1456267"/>
          </a:xfrm>
        </p:spPr>
        <p:txBody>
          <a:bodyPr/>
          <a:lstStyle/>
          <a:p>
            <a:pPr algn="ctr"/>
            <a:r>
              <a:rPr lang="en-US" sz="3600" b="1" dirty="0"/>
              <a:t>Intra-operative phase</a:t>
            </a:r>
            <a:endParaRPr lang="th-TH" dirty="0"/>
          </a:p>
        </p:txBody>
      </p:sp>
      <p:pic>
        <p:nvPicPr>
          <p:cNvPr id="5" name="รูปภาพ 4">
            <a:extLst>
              <a:ext uri="{FF2B5EF4-FFF2-40B4-BE49-F238E27FC236}">
                <a16:creationId xmlns:a16="http://schemas.microsoft.com/office/drawing/2014/main" id="{D934F0D0-0CDA-4437-923A-093B7CA6A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2529" y="881101"/>
            <a:ext cx="5177489" cy="2913475"/>
          </a:xfrm>
          <a:prstGeom prst="rect">
            <a:avLst/>
          </a:prstGeom>
        </p:spPr>
      </p:pic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4E5D25D4-3AC5-46A6-BD69-E82954B1B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 flipH="1">
            <a:off x="-1236107" y="2171118"/>
            <a:ext cx="5900171" cy="3320143"/>
          </a:xfrm>
          <a:prstGeom prst="rect">
            <a:avLst/>
          </a:prstGeom>
        </p:spPr>
      </p:pic>
      <p:pic>
        <p:nvPicPr>
          <p:cNvPr id="9" name="รูปภาพ 8">
            <a:extLst>
              <a:ext uri="{FF2B5EF4-FFF2-40B4-BE49-F238E27FC236}">
                <a16:creationId xmlns:a16="http://schemas.microsoft.com/office/drawing/2014/main" id="{CD1FD645-95A5-4310-88DD-8382029BF9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7498180" y="2171116"/>
            <a:ext cx="5900174" cy="332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721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6F690BCB-EBBF-400B-8436-DC3DB425B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2989" y="-229891"/>
            <a:ext cx="5467026" cy="1278610"/>
          </a:xfrm>
        </p:spPr>
        <p:txBody>
          <a:bodyPr/>
          <a:lstStyle/>
          <a:p>
            <a:pPr algn="ctr"/>
            <a:r>
              <a:rPr lang="en-US" sz="3600" b="1" dirty="0"/>
              <a:t>Intra-operative phase</a:t>
            </a:r>
            <a:endParaRPr lang="th-TH" dirty="0"/>
          </a:p>
        </p:txBody>
      </p:sp>
      <p:pic>
        <p:nvPicPr>
          <p:cNvPr id="4" name="ตัวแทนเนื้อหา 3">
            <a:extLst>
              <a:ext uri="{FF2B5EF4-FFF2-40B4-BE49-F238E27FC236}">
                <a16:creationId xmlns:a16="http://schemas.microsoft.com/office/drawing/2014/main" id="{2EA45441-D5B0-4CD4-9EC4-9EB057FABD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52989" y="731096"/>
            <a:ext cx="5312042" cy="595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9016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12787BC-5523-435D-BB69-1F49F8832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514" y="-241283"/>
            <a:ext cx="10131425" cy="1456267"/>
          </a:xfrm>
        </p:spPr>
        <p:txBody>
          <a:bodyPr/>
          <a:lstStyle/>
          <a:p>
            <a:pPr algn="ctr"/>
            <a:r>
              <a:rPr lang="en-US" sz="3600" b="1" dirty="0"/>
              <a:t>Intra-operative phase</a:t>
            </a:r>
            <a:endParaRPr lang="th-TH" dirty="0"/>
          </a:p>
        </p:txBody>
      </p:sp>
      <p:pic>
        <p:nvPicPr>
          <p:cNvPr id="4" name="ตัวแทนเนื้อหา 3" descr="คู่มือการใช้แบบตรวจสอบรายการผ่าตัดปลอดภัย โ">
            <a:extLst>
              <a:ext uri="{FF2B5EF4-FFF2-40B4-BE49-F238E27FC236}">
                <a16:creationId xmlns:a16="http://schemas.microsoft.com/office/drawing/2014/main" id="{3B0E9515-C9EB-47DE-8B3D-4A4CEBC64A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292" y="1106498"/>
            <a:ext cx="8556841" cy="56735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566002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EFD55AD-1094-4F96-8349-4D42CF7B4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1211" y="79218"/>
            <a:ext cx="5410199" cy="1456267"/>
          </a:xfrm>
        </p:spPr>
        <p:txBody>
          <a:bodyPr/>
          <a:lstStyle/>
          <a:p>
            <a:pPr algn="ctr"/>
            <a:r>
              <a:rPr lang="en-US" sz="3600" b="1" dirty="0"/>
              <a:t>Intra-operative phase</a:t>
            </a:r>
            <a:endParaRPr lang="th-TH" dirty="0"/>
          </a:p>
        </p:txBody>
      </p:sp>
      <p:pic>
        <p:nvPicPr>
          <p:cNvPr id="6" name="รูปภาพ 5">
            <a:extLst>
              <a:ext uri="{FF2B5EF4-FFF2-40B4-BE49-F238E27FC236}">
                <a16:creationId xmlns:a16="http://schemas.microsoft.com/office/drawing/2014/main" id="{DBCB9873-0B72-4618-A4FE-41A22CDB7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763" y="448520"/>
            <a:ext cx="4354547" cy="5960960"/>
          </a:xfrm>
          <a:prstGeom prst="rect">
            <a:avLst/>
          </a:prstGeom>
        </p:spPr>
      </p:pic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796BCBC9-D036-49C3-B8DA-03C2D8C80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5314419" y="2443395"/>
            <a:ext cx="6688121" cy="376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331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9E461194-13F7-4587-8942-43B017EFE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0185" y="5730315"/>
            <a:ext cx="5220324" cy="1456267"/>
          </a:xfrm>
        </p:spPr>
        <p:txBody>
          <a:bodyPr/>
          <a:lstStyle/>
          <a:p>
            <a:pPr algn="ctr"/>
            <a:r>
              <a:rPr lang="en-US" sz="3600" b="1" dirty="0"/>
              <a:t>Intra-operative phase</a:t>
            </a:r>
            <a:endParaRPr lang="th-TH" dirty="0"/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28D46461-43C4-49A2-9D1C-D6D4A6F18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383452" y="-913629"/>
            <a:ext cx="2683886" cy="4769488"/>
          </a:xfrm>
          <a:prstGeom prst="rect">
            <a:avLst/>
          </a:prstGeom>
        </p:spPr>
      </p:pic>
      <p:pic>
        <p:nvPicPr>
          <p:cNvPr id="9" name="รูปภาพ 8">
            <a:extLst>
              <a:ext uri="{FF2B5EF4-FFF2-40B4-BE49-F238E27FC236}">
                <a16:creationId xmlns:a16="http://schemas.microsoft.com/office/drawing/2014/main" id="{F8128AEA-5693-4878-A641-3201EC082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455372" y="1974869"/>
            <a:ext cx="2898103" cy="5150172"/>
          </a:xfrm>
          <a:prstGeom prst="rect">
            <a:avLst/>
          </a:prstGeom>
        </p:spPr>
      </p:pic>
      <p:pic>
        <p:nvPicPr>
          <p:cNvPr id="11" name="รูปภาพ 10">
            <a:extLst>
              <a:ext uri="{FF2B5EF4-FFF2-40B4-BE49-F238E27FC236}">
                <a16:creationId xmlns:a16="http://schemas.microsoft.com/office/drawing/2014/main" id="{C19269C1-B685-4D56-901F-9A815F9F9B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3139" y="1028351"/>
            <a:ext cx="3153930" cy="5604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467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908BCEFE-89FD-42BE-8DC1-CFAE90048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1049" y="798477"/>
            <a:ext cx="5410199" cy="1456267"/>
          </a:xfrm>
        </p:spPr>
        <p:txBody>
          <a:bodyPr/>
          <a:lstStyle/>
          <a:p>
            <a:pPr algn="ctr"/>
            <a:r>
              <a:rPr lang="en-US" sz="3600" b="1" dirty="0"/>
              <a:t>Intra-operative phase</a:t>
            </a:r>
            <a:endParaRPr lang="th-TH" dirty="0"/>
          </a:p>
        </p:txBody>
      </p:sp>
      <p:pic>
        <p:nvPicPr>
          <p:cNvPr id="5" name="รูปภาพ 4">
            <a:extLst>
              <a:ext uri="{FF2B5EF4-FFF2-40B4-BE49-F238E27FC236}">
                <a16:creationId xmlns:a16="http://schemas.microsoft.com/office/drawing/2014/main" id="{7E5F2EF9-2B70-4329-9C9A-CE1F0E7FE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049" y="3335311"/>
            <a:ext cx="6041035" cy="3399410"/>
          </a:xfrm>
          <a:prstGeom prst="rect">
            <a:avLst/>
          </a:prstGeom>
        </p:spPr>
      </p:pic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3C662618-BBD4-441A-8C29-11BB60CF2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16" y="3429000"/>
            <a:ext cx="5561351" cy="3129483"/>
          </a:xfrm>
          <a:prstGeom prst="rect">
            <a:avLst/>
          </a:prstGeom>
        </p:spPr>
      </p:pic>
      <p:pic>
        <p:nvPicPr>
          <p:cNvPr id="8" name="ตัวแทนเนื้อหา 10" descr="ผ้าซับเลือด - Explore | Facebook">
            <a:extLst>
              <a:ext uri="{FF2B5EF4-FFF2-40B4-BE49-F238E27FC236}">
                <a16:creationId xmlns:a16="http://schemas.microsoft.com/office/drawing/2014/main" id="{D902FB8D-2960-4FFC-964C-77C9F3F619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886" y="0"/>
            <a:ext cx="4912798" cy="31866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3152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6E255188-B1D5-408D-AB42-D0548C11E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76" y="57150"/>
            <a:ext cx="6191250" cy="1287376"/>
          </a:xfrm>
        </p:spPr>
        <p:txBody>
          <a:bodyPr>
            <a:normAutofit/>
          </a:bodyPr>
          <a:lstStyle/>
          <a:p>
            <a:r>
              <a:rPr lang="th-TH" sz="4000" b="1" dirty="0"/>
              <a:t>การเคลื่อนย้ายผู้ป่วยออกจากห้องผ่าตัด</a:t>
            </a:r>
          </a:p>
        </p:txBody>
      </p:sp>
      <p:sp>
        <p:nvSpPr>
          <p:cNvPr id="6" name="ตัวแทนเนื้อหา 5">
            <a:extLst>
              <a:ext uri="{FF2B5EF4-FFF2-40B4-BE49-F238E27FC236}">
                <a16:creationId xmlns:a16="http://schemas.microsoft.com/office/drawing/2014/main" id="{084D336A-5344-CD48-4588-352CE2975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1" y="2356908"/>
            <a:ext cx="2819400" cy="2144183"/>
          </a:xfrm>
        </p:spPr>
        <p:txBody>
          <a:bodyPr/>
          <a:lstStyle/>
          <a:p>
            <a:r>
              <a:rPr lang="en-US" sz="2800" b="1" dirty="0" err="1">
                <a:cs typeface="+mj-cs"/>
              </a:rPr>
              <a:t>Sp</a:t>
            </a:r>
            <a:r>
              <a:rPr lang="en-US" sz="2800" b="1" i="0" dirty="0" err="1">
                <a:effectLst/>
                <a:latin typeface="Arial" panose="020B0604020202020204" pitchFamily="34" charset="0"/>
                <a:cs typeface="+mj-cs"/>
              </a:rPr>
              <a:t>O</a:t>
            </a:r>
            <a:r>
              <a:rPr lang="en-US" sz="2800" b="1" i="0" dirty="0">
                <a:effectLst/>
                <a:latin typeface="Arial" panose="020B0604020202020204" pitchFamily="34" charset="0"/>
                <a:cs typeface="+mj-cs"/>
              </a:rPr>
              <a:t>₂ </a:t>
            </a:r>
            <a:r>
              <a:rPr lang="en-US" sz="2800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› 98%</a:t>
            </a:r>
          </a:p>
          <a:p>
            <a:r>
              <a:rPr lang="en-US" sz="2800" b="1" i="0" dirty="0">
                <a:effectLst/>
                <a:latin typeface="Arial" panose="020B0604020202020204" pitchFamily="34" charset="0"/>
                <a:cs typeface="+mj-cs"/>
              </a:rPr>
              <a:t>O₂ 5 lit/min</a:t>
            </a:r>
            <a:endParaRPr lang="en-US" sz="2800" b="1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+mj-cs"/>
            </a:endParaRPr>
          </a:p>
          <a:p>
            <a:endParaRPr lang="th-TH" b="1" dirty="0">
              <a:cs typeface="+mj-cs"/>
            </a:endParaRPr>
          </a:p>
        </p:txBody>
      </p:sp>
      <p:pic>
        <p:nvPicPr>
          <p:cNvPr id="7" name="รูปภาพ 6" descr="แพทย์ พยาบาล และแพทย์ กําลังเข็นเปลหามพร้อมผู้ป่วยที่ได้รับบาดเจ็บสาหัสไปยัง ห้องผ่าตัด พ ภาพสต็อก - ดาวน์โหลดรูปภาพตอนนี้ - iStock">
            <a:extLst>
              <a:ext uri="{FF2B5EF4-FFF2-40B4-BE49-F238E27FC236}">
                <a16:creationId xmlns:a16="http://schemas.microsoft.com/office/drawing/2014/main" id="{DFA8456C-964A-DA72-EC58-01C6D1B8B5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102" y="1135171"/>
            <a:ext cx="8191498" cy="54481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0120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9DC45861-F683-1802-04F8-73F3163A0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579" y="83775"/>
            <a:ext cx="5372821" cy="1456267"/>
          </a:xfrm>
        </p:spPr>
        <p:txBody>
          <a:bodyPr>
            <a:normAutofit/>
          </a:bodyPr>
          <a:lstStyle/>
          <a:p>
            <a:r>
              <a:rPr lang="en-US" sz="4000" b="1" dirty="0"/>
              <a:t>Post-operative Care</a:t>
            </a:r>
            <a:endParaRPr lang="th-TH" sz="4000" b="1" dirty="0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1470A0E-CA78-7F15-8195-7F0637638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322549"/>
            <a:ext cx="3237778" cy="378949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800" dirty="0">
                <a:latin typeface="Verdana" panose="020B0604030504040204" pitchFamily="34" charset="0"/>
                <a:ea typeface="Verdana" panose="020B0604030504040204" pitchFamily="34" charset="0"/>
              </a:rPr>
              <a:t>• </a:t>
            </a:r>
            <a:r>
              <a:rPr lang="en-US" sz="3800" dirty="0"/>
              <a:t>Patient’s identification</a:t>
            </a:r>
          </a:p>
          <a:p>
            <a:pPr marL="0" indent="0">
              <a:buNone/>
            </a:pPr>
            <a:r>
              <a:rPr lang="en-US" sz="3800" dirty="0">
                <a:latin typeface="Verdana" panose="020B0604030504040204" pitchFamily="34" charset="0"/>
                <a:ea typeface="Verdana" panose="020B0604030504040204" pitchFamily="34" charset="0"/>
              </a:rPr>
              <a:t>• </a:t>
            </a:r>
            <a:r>
              <a:rPr lang="en-US" sz="3800" dirty="0"/>
              <a:t>Operation </a:t>
            </a:r>
          </a:p>
          <a:p>
            <a:pPr marL="0" indent="0">
              <a:buNone/>
            </a:pPr>
            <a:r>
              <a:rPr lang="en-US" sz="3800" dirty="0">
                <a:latin typeface="Verdana" panose="020B0604030504040204" pitchFamily="34" charset="0"/>
                <a:ea typeface="Verdana" panose="020B0604030504040204" pitchFamily="34" charset="0"/>
              </a:rPr>
              <a:t>• </a:t>
            </a:r>
            <a:r>
              <a:rPr lang="en-US" sz="3800" dirty="0"/>
              <a:t>Side</a:t>
            </a:r>
          </a:p>
          <a:p>
            <a:pPr marL="0" indent="0">
              <a:buNone/>
            </a:pPr>
            <a:r>
              <a:rPr lang="en-US" sz="3800" dirty="0">
                <a:latin typeface="Verdana" panose="020B0604030504040204" pitchFamily="34" charset="0"/>
                <a:ea typeface="Verdana" panose="020B0604030504040204" pitchFamily="34" charset="0"/>
              </a:rPr>
              <a:t>• </a:t>
            </a:r>
            <a:r>
              <a:rPr lang="en-US" sz="3800" dirty="0"/>
              <a:t>Allergy</a:t>
            </a:r>
          </a:p>
          <a:p>
            <a:pPr marL="0" indent="0">
              <a:buNone/>
            </a:pPr>
            <a:r>
              <a:rPr lang="en-US" sz="3800" dirty="0">
                <a:latin typeface="Verdana" panose="020B0604030504040204" pitchFamily="34" charset="0"/>
                <a:ea typeface="Verdana" panose="020B0604030504040204" pitchFamily="34" charset="0"/>
              </a:rPr>
              <a:t>• </a:t>
            </a:r>
            <a:r>
              <a:rPr lang="en-US" sz="3800" dirty="0"/>
              <a:t>Vital signs</a:t>
            </a:r>
          </a:p>
          <a:p>
            <a:pPr marL="0" indent="0">
              <a:buNone/>
            </a:pPr>
            <a:r>
              <a:rPr lang="en-US" sz="3800" dirty="0">
                <a:latin typeface="Verdana" panose="020B0604030504040204" pitchFamily="34" charset="0"/>
                <a:ea typeface="Verdana" panose="020B0604030504040204" pitchFamily="34" charset="0"/>
              </a:rPr>
              <a:t>• </a:t>
            </a:r>
            <a:r>
              <a:rPr lang="en-US" sz="3800" dirty="0" err="1"/>
              <a:t>Anaesthetic</a:t>
            </a:r>
            <a:endParaRPr lang="en-US" sz="3800" dirty="0"/>
          </a:p>
          <a:p>
            <a:pPr marL="0" indent="0">
              <a:buNone/>
            </a:pPr>
            <a:r>
              <a:rPr lang="en-US" sz="3800" dirty="0">
                <a:latin typeface="Verdana" panose="020B0604030504040204" pitchFamily="34" charset="0"/>
                <a:ea typeface="Verdana" panose="020B0604030504040204" pitchFamily="34" charset="0"/>
              </a:rPr>
              <a:t>• </a:t>
            </a:r>
            <a:r>
              <a:rPr lang="en-US" sz="3800" dirty="0"/>
              <a:t>IV fluid</a:t>
            </a:r>
          </a:p>
          <a:p>
            <a:pPr marL="0" indent="0">
              <a:buNone/>
            </a:pPr>
            <a:r>
              <a:rPr lang="en-US" sz="3800" dirty="0">
                <a:latin typeface="Verdana" panose="020B0604030504040204" pitchFamily="34" charset="0"/>
                <a:ea typeface="Verdana" panose="020B0604030504040204" pitchFamily="34" charset="0"/>
              </a:rPr>
              <a:t>• </a:t>
            </a:r>
            <a:r>
              <a:rPr lang="en-US" sz="3800" dirty="0"/>
              <a:t>Bleeding</a:t>
            </a:r>
          </a:p>
          <a:p>
            <a:pPr marL="0" indent="0">
              <a:buNone/>
            </a:pPr>
            <a:r>
              <a:rPr lang="en-US" sz="3800" dirty="0">
                <a:latin typeface="Verdana" panose="020B0604030504040204" pitchFamily="34" charset="0"/>
                <a:ea typeface="Verdana" panose="020B0604030504040204" pitchFamily="34" charset="0"/>
              </a:rPr>
              <a:t>• </a:t>
            </a:r>
            <a:r>
              <a:rPr lang="en-US" sz="3800" dirty="0"/>
              <a:t>Urine</a:t>
            </a:r>
            <a:endParaRPr lang="th-TH" dirty="0"/>
          </a:p>
        </p:txBody>
      </p:sp>
      <p:pic>
        <p:nvPicPr>
          <p:cNvPr id="4" name="รูปภาพ 3" descr="รพ. รัฐในอังกฤษ เตรียมเก็บค่าใช้จ่ายก่อนรักษาผู้ป่วยต่างชาติ เม.ย.นี้ - BBC  News ไทย">
            <a:extLst>
              <a:ext uri="{FF2B5EF4-FFF2-40B4-BE49-F238E27FC236}">
                <a16:creationId xmlns:a16="http://schemas.microsoft.com/office/drawing/2014/main" id="{516DD70F-987E-51E5-FB0A-E1B4B671B5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1679" y="1586072"/>
            <a:ext cx="8072791" cy="452597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73CE6B2A-75EC-15F8-0EC2-B507C188A5EA}"/>
              </a:ext>
            </a:extLst>
          </p:cNvPr>
          <p:cNvSpPr txBox="1"/>
          <p:nvPr/>
        </p:nvSpPr>
        <p:spPr>
          <a:xfrm>
            <a:off x="685801" y="1567022"/>
            <a:ext cx="29816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600" dirty="0"/>
              <a:t>Verbal report</a:t>
            </a:r>
          </a:p>
        </p:txBody>
      </p:sp>
      <p:pic>
        <p:nvPicPr>
          <p:cNvPr id="7" name="รูปภาพ 6" descr="หมอนรองขา หมอนรองเท้า มีซิปถอดซักได้ สําหรับผู้สูงอายุ | Lazada.co.th">
            <a:extLst>
              <a:ext uri="{FF2B5EF4-FFF2-40B4-BE49-F238E27FC236}">
                <a16:creationId xmlns:a16="http://schemas.microsoft.com/office/drawing/2014/main" id="{A1848C1B-B6D7-6D1F-9791-3F239F9CBC8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375"/>
          <a:stretch/>
        </p:blipFill>
        <p:spPr bwMode="auto">
          <a:xfrm>
            <a:off x="9124950" y="4206816"/>
            <a:ext cx="2909520" cy="246258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52655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79E47BD6-101D-47A9-9B8A-037AADE8A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2373" y="654568"/>
            <a:ext cx="4875550" cy="1456267"/>
          </a:xfrm>
        </p:spPr>
        <p:txBody>
          <a:bodyPr/>
          <a:lstStyle/>
          <a:p>
            <a:pPr algn="ctr"/>
            <a:r>
              <a:rPr lang="en-US" sz="3600" b="1" dirty="0"/>
              <a:t>Post-operative Care</a:t>
            </a:r>
            <a:endParaRPr lang="th-TH" dirty="0"/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0E1FBC09-A7E4-4212-8725-705EA6534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0674" y="2878111"/>
            <a:ext cx="5536407" cy="3681204"/>
          </a:xfrm>
          <a:prstGeom prst="rect">
            <a:avLst/>
          </a:prstGeom>
        </p:spPr>
      </p:pic>
      <p:pic>
        <p:nvPicPr>
          <p:cNvPr id="9" name="รูปภาพ 8">
            <a:extLst>
              <a:ext uri="{FF2B5EF4-FFF2-40B4-BE49-F238E27FC236}">
                <a16:creationId xmlns:a16="http://schemas.microsoft.com/office/drawing/2014/main" id="{0828B6AF-74F6-404F-BCB5-F6A20533D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3043" y="1226942"/>
            <a:ext cx="2894562" cy="5143878"/>
          </a:xfrm>
          <a:prstGeom prst="rect">
            <a:avLst/>
          </a:prstGeom>
        </p:spPr>
      </p:pic>
      <p:pic>
        <p:nvPicPr>
          <p:cNvPr id="11" name="รูปภาพ 10">
            <a:extLst>
              <a:ext uri="{FF2B5EF4-FFF2-40B4-BE49-F238E27FC236}">
                <a16:creationId xmlns:a16="http://schemas.microsoft.com/office/drawing/2014/main" id="{0EECA97F-DE9F-427C-A021-CF13710C17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818607" y="1354681"/>
            <a:ext cx="4980906" cy="280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273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CF3A425-69A7-4764-D1AB-E3D2F2813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9943" y="251661"/>
            <a:ext cx="3392114" cy="1456267"/>
          </a:xfrm>
        </p:spPr>
        <p:txBody>
          <a:bodyPr>
            <a:noAutofit/>
          </a:bodyPr>
          <a:lstStyle/>
          <a:p>
            <a:r>
              <a:rPr lang="en-US" sz="4800" b="1" dirty="0"/>
              <a:t>Thank you</a:t>
            </a:r>
            <a:endParaRPr lang="th-TH" sz="4800" b="1" dirty="0"/>
          </a:p>
        </p:txBody>
      </p:sp>
      <p:pic>
        <p:nvPicPr>
          <p:cNvPr id="4" name="ตัวแทนเนื้อหา 3" descr="เตรียมแก้กฎเปิดกว้างให้ รพ.เอกชน เชิญที่ปรึกษาหรือผู้เชี่ยวชาญจากต่างชาติเข้ามาได้  - ศูนย์ข้อมูล&amp;ข่าวสืบสวนเพื่อสิทธิพลเมือง (TCIJ)">
            <a:extLst>
              <a:ext uri="{FF2B5EF4-FFF2-40B4-BE49-F238E27FC236}">
                <a16:creationId xmlns:a16="http://schemas.microsoft.com/office/drawing/2014/main" id="{D537875B-14E4-E93E-0325-49D2086DBA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200" y="1707928"/>
            <a:ext cx="6968181" cy="42637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31745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สื่อออนไลน์ 3" title="เข่าเสื่อมรักษาได้ ด้วยหุ่นยนต์ช่วยผ่าตัด แม่นยำ ปลอดภัย l ข้อดีมีสุข kdms ep.6">
            <a:hlinkClick r:id="" action="ppaction://media"/>
            <a:extLst>
              <a:ext uri="{FF2B5EF4-FFF2-40B4-BE49-F238E27FC236}">
                <a16:creationId xmlns:a16="http://schemas.microsoft.com/office/drawing/2014/main" id="{340B9821-FE2F-69B6-4171-3C70E1D16BEA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26946" y="1195059"/>
            <a:ext cx="7907704" cy="446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822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สื่อออนไลน์ 3" title="ออกกำลังกายหลังการผ่าตัดเปลี่ยนข้อเข่า : บำบัดง่าย ๆ ด้วยกายภาพ (24 ก.พ. 64)">
            <a:hlinkClick r:id="" action="ppaction://media"/>
            <a:extLst>
              <a:ext uri="{FF2B5EF4-FFF2-40B4-BE49-F238E27FC236}">
                <a16:creationId xmlns:a16="http://schemas.microsoft.com/office/drawing/2014/main" id="{683FB786-D642-5902-73EC-5FEBB86F8233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961535" y="870155"/>
            <a:ext cx="9270761" cy="523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807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ท้องฟ้า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179</Words>
  <Application>Microsoft Office PowerPoint</Application>
  <PresentationFormat>แบบจอกว้าง</PresentationFormat>
  <Paragraphs>58</Paragraphs>
  <Slides>31</Slides>
  <Notes>1</Notes>
  <HiddenSlides>0</HiddenSlides>
  <MMClips>2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Verdana</vt:lpstr>
      <vt:lpstr>ท้องฟ้า</vt:lpstr>
      <vt:lpstr>การพยาบาลผู้ป่วยผ่าตัดเปลี่ยนข้อเข่าเทียม</vt:lpstr>
      <vt:lpstr>TKA. (Total knee arthroplasty)</vt:lpstr>
      <vt:lpstr>TKA. (Total knee arthroplasty)</vt:lpstr>
      <vt:lpstr>TKA. (Total knee arthroplasty)</vt:lpstr>
      <vt:lpstr>Arthritis</vt:lpstr>
      <vt:lpstr>Arthritis</vt:lpstr>
      <vt:lpstr>Arthritis</vt:lpstr>
      <vt:lpstr>treatment</vt:lpstr>
      <vt:lpstr>treatment</vt:lpstr>
      <vt:lpstr>ถึงเวลาเปลี่ยนข้อเข่าเทียม???</vt:lpstr>
      <vt:lpstr>Pre – Admission nurse</vt:lpstr>
      <vt:lpstr>Preoperative assessment</vt:lpstr>
      <vt:lpstr>Preoperative assessment</vt:lpstr>
      <vt:lpstr>OR preparation</vt:lpstr>
      <vt:lpstr>OR preparation</vt:lpstr>
      <vt:lpstr>OR preparation</vt:lpstr>
      <vt:lpstr>Intra-operative phase</vt:lpstr>
      <vt:lpstr>Intra-operative phase</vt:lpstr>
      <vt:lpstr>Intra-operative phase</vt:lpstr>
      <vt:lpstr>Intra-operative phase</vt:lpstr>
      <vt:lpstr>Intra-operative phase</vt:lpstr>
      <vt:lpstr>Intra-operative phase</vt:lpstr>
      <vt:lpstr>Intra-operative phase</vt:lpstr>
      <vt:lpstr>Intra-operative phase</vt:lpstr>
      <vt:lpstr>Intra-operative phase</vt:lpstr>
      <vt:lpstr>การเคลื่อนย้ายผู้ป่วยออกจากห้องผ่าตัด</vt:lpstr>
      <vt:lpstr>Post-operative Care</vt:lpstr>
      <vt:lpstr>Post-operative Care</vt:lpstr>
      <vt:lpstr>Thank you</vt:lpstr>
      <vt:lpstr>งานนำเสนอ PowerPoint</vt:lpstr>
      <vt:lpstr>งานนำเสนอ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การพยาบาลผู้ป่วยผ่าจัดเปลี่ยนข้อเข่าเทียม</dc:title>
  <dc:creator>sicholsiraj@gmail.com</dc:creator>
  <cp:lastModifiedBy>Administrator</cp:lastModifiedBy>
  <cp:revision>22</cp:revision>
  <dcterms:created xsi:type="dcterms:W3CDTF">2023-09-23T05:17:28Z</dcterms:created>
  <dcterms:modified xsi:type="dcterms:W3CDTF">2026-08-29T12:11:58Z</dcterms:modified>
</cp:coreProperties>
</file>